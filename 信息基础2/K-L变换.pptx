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556" r:id="rId3"/>
    <p:sldId id="595" r:id="rId4"/>
    <p:sldId id="596" r:id="rId5"/>
    <p:sldId id="597" r:id="rId6"/>
    <p:sldId id="598" r:id="rId7"/>
    <p:sldId id="599" r:id="rId8"/>
  </p:sldIdLst>
  <p:sldSz cx="9144000" cy="6858000" type="screen4x3"/>
  <p:notesSz cx="6797675" cy="992632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1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1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1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1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FF00"/>
    <a:srgbClr val="FFFF00"/>
    <a:srgbClr val="00CC00"/>
    <a:srgbClr val="FF9933"/>
    <a:srgbClr val="FF6600"/>
    <a:srgbClr val="000099"/>
    <a:srgbClr val="FF3300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8087" autoAdjust="0"/>
    <p:restoredTop sz="99855" autoAdjust="0"/>
  </p:normalViewPr>
  <p:slideViewPr>
    <p:cSldViewPr showGuides="1">
      <p:cViewPr varScale="1">
        <p:scale>
          <a:sx n="68" d="100"/>
          <a:sy n="68" d="100"/>
        </p:scale>
        <p:origin x="1524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800" y="-78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fld id="{7F060C6C-8964-4F69-8D1E-4380FABFC16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5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fld id="{F1080D5E-6BA7-47C7-9737-2AE46BA9F06C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hidden">
          <a:xfrm>
            <a:off x="0" y="6553200"/>
            <a:ext cx="9144000" cy="304800"/>
          </a:xfrm>
          <a:prstGeom prst="rect">
            <a:avLst/>
          </a:prstGeom>
          <a:solidFill>
            <a:srgbClr val="6780B9"/>
          </a:solidFill>
          <a:ln>
            <a:noFill/>
          </a:ln>
        </p:spPr>
        <p:txBody>
          <a:bodyPr wrap="none" anchor="ctr"/>
          <a:lstStyle>
            <a:lvl1pPr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Line 9"/>
          <p:cNvSpPr>
            <a:spLocks noChangeShapeType="1"/>
          </p:cNvSpPr>
          <p:nvPr/>
        </p:nvSpPr>
        <p:spPr bwMode="auto">
          <a:xfrm flipV="1">
            <a:off x="1524000" y="6553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0" y="838200"/>
            <a:ext cx="9144000" cy="0"/>
          </a:xfrm>
          <a:prstGeom prst="line">
            <a:avLst/>
          </a:prstGeom>
          <a:noFill/>
          <a:ln w="28575">
            <a:solidFill>
              <a:srgbClr val="9FAFD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-228600" y="6537325"/>
            <a:ext cx="1219200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>
            <a:lvl1pPr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TW" sz="1000">
                <a:latin typeface="Arial" panose="020B0604020202020204" pitchFamily="34" charset="0"/>
                <a:ea typeface="DFKai-SB" pitchFamily="65" charset="-120"/>
              </a:rPr>
              <a:t>Page </a:t>
            </a:r>
            <a:fld id="{67540835-83A4-4E46-A5D6-8EC700806ACF}" type="slidenum">
              <a:rPr lang="en-US" altLang="zh-TW" sz="1000" smtClean="0">
                <a:latin typeface="Arial" panose="020B0604020202020204" pitchFamily="34" charset="0"/>
                <a:ea typeface="DFKai-SB" pitchFamily="65" charset="-120"/>
              </a:rPr>
            </a:fld>
            <a:r>
              <a:rPr lang="en-US" altLang="zh-TW" sz="1000">
                <a:latin typeface="Arial" panose="020B0604020202020204" pitchFamily="34" charset="0"/>
                <a:ea typeface="DFKai-SB" pitchFamily="65" charset="-120"/>
              </a:rPr>
              <a:t> </a:t>
            </a:r>
            <a:endParaRPr lang="en-US" altLang="zh-TW" sz="1000">
              <a:latin typeface="Arial" panose="020B0604020202020204" pitchFamily="34" charset="0"/>
              <a:ea typeface="DFKai-SB" pitchFamily="65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内容占位符 2"/>
          <p:cNvSpPr>
            <a:spLocks noGrp="1"/>
          </p:cNvSpPr>
          <p:nvPr>
            <p:ph idx="1"/>
          </p:nvPr>
        </p:nvSpPr>
        <p:spPr bwMode="auto">
          <a:xfrm>
            <a:off x="468313" y="1052513"/>
            <a:ext cx="8218487" cy="5073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indent="0">
              <a:buFontTx/>
              <a:buNone/>
            </a:pPr>
            <a:r>
              <a:rPr lang="en-US" altLang="zh-CN" b="1" kern="1200" dirty="0">
                <a:solidFill>
                  <a:schemeClr val="accent2"/>
                </a:solidFill>
                <a:latin typeface="Times New Roman" panose="02020603050405020304" pitchFamily="18" charset="0"/>
                <a:ea typeface="Adobe 楷体 Std R"/>
              </a:rPr>
              <a:t>6.5 </a:t>
            </a:r>
            <a:r>
              <a:rPr lang="zh-CN" altLang="zh-CN" b="1" kern="1200" dirty="0">
                <a:solidFill>
                  <a:schemeClr val="accent2"/>
                </a:solidFill>
                <a:latin typeface="Times New Roman" panose="02020603050405020304" pitchFamily="18" charset="0"/>
                <a:ea typeface="Adobe 楷体 Std R"/>
              </a:rPr>
              <a:t>基于</a:t>
            </a:r>
            <a:r>
              <a:rPr lang="en-US" altLang="zh-CN" b="1" kern="1200" dirty="0" err="1">
                <a:solidFill>
                  <a:schemeClr val="accent2"/>
                </a:solidFill>
                <a:latin typeface="Times New Roman" panose="02020603050405020304" pitchFamily="18" charset="0"/>
                <a:ea typeface="Adobe 楷体 Std R"/>
              </a:rPr>
              <a:t>Karhunen-Loeve</a:t>
            </a:r>
            <a:r>
              <a:rPr lang="zh-CN" altLang="zh-CN" b="1" kern="1200" dirty="0">
                <a:solidFill>
                  <a:schemeClr val="accent2"/>
                </a:solidFill>
                <a:latin typeface="Times New Roman" panose="02020603050405020304" pitchFamily="18" charset="0"/>
                <a:ea typeface="Adobe 楷体 Std R"/>
              </a:rPr>
              <a:t>变换的特征提取</a:t>
            </a:r>
            <a:endParaRPr lang="en-US" altLang="zh-CN" b="1" kern="1200" dirty="0">
              <a:solidFill>
                <a:schemeClr val="accent2"/>
              </a:solidFill>
              <a:latin typeface="Times New Roman" panose="02020603050405020304" pitchFamily="18" charset="0"/>
              <a:ea typeface="Adobe 楷体 Std R"/>
            </a:endParaRPr>
          </a:p>
          <a:p>
            <a:pPr marL="0" indent="0">
              <a:buFontTx/>
              <a:buNone/>
            </a:pP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FontTx/>
              <a:buNone/>
            </a:pPr>
            <a:r>
              <a:rPr lang="en-US" altLang="zh-CN" sz="2800" b="1" dirty="0">
                <a:solidFill>
                  <a:schemeClr val="accent2"/>
                </a:solidFill>
                <a:latin typeface="楷体" panose="02010609060101010101" pitchFamily="49" charset="-122"/>
                <a:ea typeface="Adobe 楷体 Std R"/>
              </a:rPr>
              <a:t>6.5.1 </a:t>
            </a:r>
            <a:r>
              <a:rPr lang="en-US" altLang="zh-CN" sz="2800" b="1" dirty="0" err="1">
                <a:solidFill>
                  <a:schemeClr val="accent2"/>
                </a:solidFill>
                <a:latin typeface="楷体" panose="02010609060101010101" pitchFamily="49" charset="-122"/>
                <a:ea typeface="Adobe 楷体 Std R"/>
              </a:rPr>
              <a:t>Karhunen-Loeve</a:t>
            </a:r>
            <a:r>
              <a:rPr lang="zh-CN" altLang="zh-CN" sz="2800" b="1" dirty="0">
                <a:solidFill>
                  <a:schemeClr val="accent2"/>
                </a:solidFill>
                <a:latin typeface="楷体" panose="02010609060101010101" pitchFamily="49" charset="-122"/>
                <a:ea typeface="Adobe 楷体 Std R"/>
              </a:rPr>
              <a:t>变换</a:t>
            </a:r>
            <a:endParaRPr lang="en-US" altLang="zh-CN" sz="2800" b="1" dirty="0">
              <a:solidFill>
                <a:schemeClr val="accent2"/>
              </a:solidFill>
              <a:latin typeface="楷体" panose="02010609060101010101" pitchFamily="49" charset="-122"/>
              <a:ea typeface="Adobe 楷体 Std R"/>
            </a:endParaRP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en-US" altLang="zh-CN" sz="2400" dirty="0" err="1">
                <a:latin typeface="楷体" panose="02010609060101010101" pitchFamily="49" charset="-122"/>
                <a:ea typeface="Adobe 楷体 Std R"/>
              </a:rPr>
              <a:t>Karhunen-Loeve</a:t>
            </a:r>
            <a:r>
              <a:rPr lang="zh-CN" altLang="zh-CN" sz="2400" dirty="0">
                <a:latin typeface="楷体" panose="02010609060101010101" pitchFamily="49" charset="-122"/>
                <a:ea typeface="Adobe 楷体 Std R"/>
              </a:rPr>
              <a:t>（</a:t>
            </a:r>
            <a:r>
              <a:rPr lang="en-US" altLang="zh-CN" sz="2400" dirty="0">
                <a:latin typeface="楷体" panose="02010609060101010101" pitchFamily="49" charset="-122"/>
                <a:ea typeface="Adobe 楷体 Std R"/>
              </a:rPr>
              <a:t>K-L</a:t>
            </a:r>
            <a:r>
              <a:rPr lang="zh-CN" altLang="zh-CN" sz="2400" dirty="0">
                <a:latin typeface="楷体" panose="02010609060101010101" pitchFamily="49" charset="-122"/>
                <a:ea typeface="Adobe 楷体 Std R"/>
              </a:rPr>
              <a:t>）变换是常用的一种特征提取方法，其思想是通过寻找一个特征空间，将样本从原始的数据空间投影到特征空间，找到维数较少的组合特征，从而达到降维的目的。</a:t>
            </a:r>
            <a:endParaRPr lang="zh-CN" altLang="en-US" sz="2400" dirty="0">
              <a:latin typeface="楷体" panose="02010609060101010101" pitchFamily="49" charset="-122"/>
              <a:ea typeface="Adobe 楷体 Std 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81986" y="301794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zh-CN" altLang="en-US" sz="2000" b="0" dirty="0">
                <a:solidFill>
                  <a:srgbClr val="262699"/>
                </a:solidFill>
                <a:latin typeface="Adobe 楷体 Std R" pitchFamily="18" charset="-122"/>
                <a:ea typeface="Adobe 楷体 Std R" pitchFamily="18" charset="-122"/>
                <a:cs typeface="+mj-cs"/>
              </a:rPr>
              <a:t>特征提取与选择</a:t>
            </a:r>
            <a:endParaRPr lang="zh-CN" altLang="en-US" sz="2000" b="0" dirty="0">
              <a:solidFill>
                <a:srgbClr val="262699"/>
              </a:solidFill>
              <a:latin typeface="Adobe 楷体 Std R" pitchFamily="18" charset="-122"/>
              <a:ea typeface="Adobe 楷体 Std R" pitchFamily="18" charset="-122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80728"/>
                <a:ext cx="8229600" cy="5400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400" dirty="0">
                    <a:ea typeface="Adobe 楷体 Std R"/>
                  </a:rPr>
                  <a:t>        K-L</a:t>
                </a:r>
                <a:r>
                  <a:rPr lang="zh-CN" altLang="zh-CN" sz="2400" dirty="0">
                    <a:ea typeface="Adobe 楷体 Std R"/>
                  </a:rPr>
                  <a:t>变换下的最优特征提取是和降维紧密联系的。假设样本原始特征空间是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/>
                      </a:rPr>
                      <m:t>𝐷</m:t>
                    </m:r>
                  </m:oMath>
                </a14:m>
                <a:r>
                  <a:rPr lang="zh-CN" altLang="zh-CN" sz="2400" dirty="0">
                    <a:ea typeface="Adobe 楷体 Std R"/>
                  </a:rPr>
                  <a:t>维的，不失一般性，可以认为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/>
                      </a:rPr>
                      <m:t>𝐷</m:t>
                    </m:r>
                  </m:oMath>
                </a14:m>
                <a:r>
                  <a:rPr lang="zh-CN" altLang="zh-CN" sz="2400" dirty="0">
                    <a:ea typeface="Adobe 楷体 Std R"/>
                  </a:rPr>
                  <a:t>为无限大，并设原样本向量可用一组正交变换基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dirty="0" smtClean="0">
                            <a:latin typeface="Cambria Math" panose="02040503050406030204"/>
                          </a:rPr>
                          <m:t>𝜇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/>
                          </a:rPr>
                          <m:t>𝑗</m:t>
                        </m:r>
                      </m:sub>
                    </m:sSub>
                    <m:r>
                      <a:rPr lang="en-US" altLang="zh-CN" sz="2400" i="1" dirty="0" smtClean="0">
                        <a:latin typeface="Cambria Math" panose="02040503050406030204"/>
                      </a:rPr>
                      <m:t> </m:t>
                    </m:r>
                  </m:oMath>
                </a14:m>
                <a:r>
                  <a:rPr lang="zh-CN" altLang="zh-CN" sz="2400" dirty="0">
                    <a:ea typeface="Adobe 楷体 Std R"/>
                  </a:rPr>
                  <a:t>表示，即</a:t>
                </a:r>
                <a:endParaRPr lang="en-US" altLang="zh-CN" sz="2400" dirty="0">
                  <a:ea typeface="Adobe 楷体 Std R"/>
                </a:endParaRPr>
              </a:p>
              <a:p>
                <a:pPr marL="0" indent="0" algn="r">
                  <a:buNone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400" b="0" i="1" smtClean="0">
                            <a:latin typeface="Cambria Math" panose="02040503050406030204"/>
                          </a:rPr>
                          <m:t>𝑗</m:t>
                        </m:r>
                        <m:r>
                          <a:rPr lang="en-US" altLang="zh-CN" sz="2400" b="0" i="1" smtClean="0">
                            <a:latin typeface="Cambria Math" panose="02040503050406030204"/>
                          </a:rPr>
                          <m:t>=</m:t>
                        </m:r>
                        <m:r>
                          <a:rPr lang="en-US" altLang="zh-CN" sz="2400" b="0" i="1" smtClean="0">
                            <a:latin typeface="Cambria Math" panose="02040503050406030204"/>
                          </a:rPr>
                          <m:t>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/>
                            <a:ea typeface="Cambria Math" panose="02040503050406030204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/>
                              </a:rPr>
                              <m:t>𝑗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dirty="0">
                            <a:latin typeface="Cambria Math" panose="02040503050406030204"/>
                          </a:rPr>
                          <m:t>𝜇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400" dirty="0">
                    <a:ea typeface="Adobe 楷体 Std R"/>
                  </a:rPr>
                  <a:t>                              (6-3</a:t>
                </a:r>
                <a:r>
                  <a:rPr lang="en-US" altLang="zh-CN" sz="2400" dirty="0"/>
                  <a:t>7)</a:t>
                </a:r>
                <a:endParaRPr lang="zh-CN" altLang="zh-CN" sz="2400" dirty="0"/>
              </a:p>
              <a:p>
                <a:pPr marL="0" indent="0">
                  <a:buNone/>
                </a:pPr>
                <a:r>
                  <a:rPr lang="zh-CN" altLang="zh-CN" sz="2400" dirty="0"/>
                  <a:t>现要求降维至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/>
                      </a:rPr>
                      <m:t>𝑑</m:t>
                    </m:r>
                  </m:oMath>
                </a14:m>
                <a:r>
                  <a:rPr lang="zh-CN" altLang="zh-CN" sz="2400" dirty="0"/>
                  <a:t>维，由于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/>
                      </a:rPr>
                      <m:t>𝑑</m:t>
                    </m:r>
                    <m:r>
                      <a:rPr lang="en-US" altLang="zh-CN" sz="2400" b="0" i="1" dirty="0" smtClean="0">
                        <a:latin typeface="Cambria Math" panose="02040503050406030204"/>
                        <a:ea typeface="Cambria Math" panose="02040503050406030204"/>
                      </a:rPr>
                      <m:t>&lt;</m:t>
                    </m:r>
                    <m:r>
                      <a:rPr lang="en-US" altLang="zh-CN" sz="2400" b="0" i="1" dirty="0" smtClean="0">
                        <a:latin typeface="Cambria Math" panose="02040503050406030204"/>
                        <a:ea typeface="Cambria Math" panose="02040503050406030204"/>
                      </a:rPr>
                      <m:t>𝐷</m:t>
                    </m:r>
                  </m:oMath>
                </a14:m>
                <a:r>
                  <a:rPr lang="zh-CN" altLang="zh-CN" sz="2400" dirty="0"/>
                  <a:t>，也就是说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/>
                      </a:rPr>
                      <m:t>𝑑</m:t>
                    </m:r>
                    <m:r>
                      <a:rPr lang="en-US" altLang="zh-CN" sz="2400" b="0" i="1" dirty="0" smtClean="0">
                        <a:latin typeface="Cambria Math" panose="02040503050406030204"/>
                        <a:ea typeface="Cambria Math" panose="02040503050406030204"/>
                      </a:rPr>
                      <m:t>+</m:t>
                    </m:r>
                    <m:r>
                      <a:rPr lang="en-US" altLang="zh-CN" sz="2400" b="0" i="1" dirty="0" smtClean="0">
                        <a:latin typeface="Cambria Math" panose="02040503050406030204"/>
                        <a:ea typeface="Cambria Math" panose="02040503050406030204"/>
                      </a:rPr>
                      <m:t>1</m:t>
                    </m:r>
                  </m:oMath>
                </a14:m>
                <a:r>
                  <a:rPr lang="zh-CN" altLang="zh-CN" sz="2400" dirty="0"/>
                  <a:t>维以上的成分在降维过程中被损失掉了。将保留下来的信息表示成</a:t>
                </a:r>
                <a:endParaRPr lang="en-US" altLang="zh-CN" sz="2400" dirty="0"/>
              </a:p>
              <a:p>
                <a:pPr marL="0" indent="0" algn="r">
                  <a:buNone/>
                </a:pPr>
                <a14:m>
                  <m:oMath xmlns:m="http://schemas.openxmlformats.org/officeDocument/2006/math">
                    <m:acc>
                      <m:accPr>
                        <m:ctrlPr>
                          <a:rPr lang="zh-CN" altLang="en-US" sz="2400" i="1" smtClean="0">
                            <a:latin typeface="Cambria Math" panose="02040503050406030204" pitchFamily="18" charset="0"/>
                            <a:ea typeface="Adobe 楷体 Std R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/>
                            <a:ea typeface="Adobe 楷体 Std R"/>
                          </a:rPr>
                          <m:t>𝑋</m:t>
                        </m:r>
                      </m:e>
                    </m:acc>
                    <m:r>
                      <a:rPr lang="en-US" altLang="zh-CN" sz="2400" b="0" i="1" smtClean="0">
                        <a:latin typeface="Cambria Math" panose="02040503050406030204"/>
                        <a:ea typeface="Adobe 楷体 Std R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400" i="1">
                            <a:latin typeface="Cambria Math" panose="02040503050406030204"/>
                          </a:rPr>
                          <m:t>𝑗</m:t>
                        </m:r>
                        <m:r>
                          <a:rPr lang="en-US" altLang="zh-CN" sz="2400" i="1">
                            <a:latin typeface="Cambria Math" panose="02040503050406030204"/>
                          </a:rPr>
                          <m:t>=</m:t>
                        </m:r>
                        <m:r>
                          <a:rPr lang="en-US" altLang="zh-CN" sz="2400" i="1">
                            <a:latin typeface="Cambria Math" panose="02040503050406030204"/>
                          </a:rPr>
                          <m:t>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/>
                            <a:ea typeface="Cambria Math" panose="02040503050406030204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/>
                              </a:rPr>
                              <m:t>𝑗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dirty="0">
                            <a:latin typeface="Cambria Math" panose="02040503050406030204"/>
                          </a:rPr>
                          <m:t>𝜇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400" dirty="0">
                    <a:ea typeface="Adobe 楷体 Std R"/>
                  </a:rPr>
                  <a:t>(6-38)</a:t>
                </a:r>
                <a:endParaRPr lang="en-US" altLang="zh-CN" sz="2400" dirty="0">
                  <a:ea typeface="Adobe 楷体 Std R"/>
                </a:endParaRPr>
              </a:p>
              <a:p>
                <a:pPr marL="0" indent="0" algn="just" hangingPunct="1">
                  <a:buNone/>
                </a:pPr>
                <a:r>
                  <a:rPr lang="zh-CN" altLang="zh-CN" sz="2400" dirty="0"/>
                  <a:t>用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zh-CN" altLang="en-US" sz="2400" i="1">
                            <a:latin typeface="Cambria Math" panose="02040503050406030204" pitchFamily="18" charset="0"/>
                            <a:ea typeface="Adobe 楷体 Std R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/>
                            <a:ea typeface="Adobe 楷体 Std R"/>
                          </a:rPr>
                          <m:t>𝑋</m:t>
                        </m:r>
                      </m:e>
                    </m:acc>
                  </m:oMath>
                </a14:m>
                <a:r>
                  <a:rPr lang="zh-CN" altLang="zh-CN" sz="2400" dirty="0"/>
                  <a:t>表示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/>
                      </a:rPr>
                      <m:t>𝑋</m:t>
                    </m:r>
                  </m:oMath>
                </a14:m>
                <a:r>
                  <a:rPr lang="zh-CN" altLang="zh-CN" sz="2400" dirty="0"/>
                  <a:t>的近似值或估计量，希望在同样维数条件下，使向量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/>
                      </a:rPr>
                      <m:t>𝑋</m:t>
                    </m:r>
                  </m:oMath>
                </a14:m>
                <a:r>
                  <a:rPr lang="zh-CN" altLang="zh-CN" sz="2400" dirty="0"/>
                  <a:t>的估计量误差最小，也即所引起的均方误差为最小，可表示为</a:t>
                </a:r>
                <a:endParaRPr lang="en-US" altLang="zh-CN" sz="2400" dirty="0"/>
              </a:p>
              <a:p>
                <a:pPr marL="0" indent="0" algn="r">
                  <a:buNone/>
                </a:pP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/>
                        <a:ea typeface="Adobe 楷体 Std R"/>
                      </a:rPr>
                      <m:t>𝜀</m:t>
                    </m:r>
                    <m:r>
                      <a:rPr lang="en-US" altLang="zh-CN" sz="2400" b="0" i="1" smtClean="0">
                        <a:latin typeface="Cambria Math" panose="02040503050406030204"/>
                        <a:ea typeface="Adobe 楷体 Std R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/>
                        <a:ea typeface="Adobe 楷体 Std R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dobe 楷体 Std R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Adobe 楷体 Std R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Adobe 楷体 Std R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/>
                                    <a:ea typeface="Adobe 楷体 Std R"/>
                                  </a:rPr>
                                  <m:t>𝑋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/>
                                    <a:ea typeface="Adobe 楷体 Std R"/>
                                  </a:rPr>
                                  <m:t>−</m:t>
                                </m:r>
                                <m:acc>
                                  <m:accPr>
                                    <m:ctrlPr>
                                      <a:rPr lang="zh-CN" altLang="en-US" sz="2400" i="1">
                                        <a:latin typeface="Cambria Math" panose="02040503050406030204" pitchFamily="18" charset="0"/>
                                        <a:ea typeface="Adobe 楷体 Std R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400" i="1">
                                        <a:latin typeface="Cambria Math" panose="02040503050406030204"/>
                                        <a:ea typeface="Adobe 楷体 Std R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/>
                                <a:ea typeface="Adobe 楷体 Std R"/>
                              </a:rPr>
                              <m:t>𝑇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Adobe 楷体 Std R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/>
                                <a:ea typeface="Adobe 楷体 Std R"/>
                              </a:rPr>
                              <m:t>𝑋</m:t>
                            </m:r>
                            <m:r>
                              <a:rPr lang="en-US" altLang="zh-CN" sz="2400" i="1">
                                <a:latin typeface="Cambria Math" panose="02040503050406030204"/>
                                <a:ea typeface="Adobe 楷体 Std R"/>
                              </a:rPr>
                              <m:t>−</m:t>
                            </m:r>
                            <m:acc>
                              <m:acc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  <a:ea typeface="Adobe 楷体 Std R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>
                                    <a:latin typeface="Cambria Math" panose="02040503050406030204"/>
                                    <a:ea typeface="Adobe 楷体 Std R"/>
                                  </a:rPr>
                                  <m:t>𝑋</m:t>
                                </m:r>
                              </m:e>
                            </m:acc>
                          </m:e>
                        </m:d>
                      </m:e>
                    </m:d>
                  </m:oMath>
                </a14:m>
                <a:r>
                  <a:rPr lang="zh-CN" altLang="en-US" sz="2400" dirty="0">
                    <a:ea typeface="Adobe 楷体 Std R"/>
                  </a:rPr>
                  <a:t>             （</a:t>
                </a:r>
                <a:r>
                  <a:rPr lang="en-US" altLang="zh-CN" sz="2400" dirty="0">
                    <a:ea typeface="Adobe 楷体 Std R"/>
                  </a:rPr>
                  <a:t>6-39</a:t>
                </a:r>
                <a:r>
                  <a:rPr lang="zh-CN" altLang="en-US" sz="2400" dirty="0">
                    <a:ea typeface="Adobe 楷体 Std R"/>
                  </a:rPr>
                  <a:t>）</a:t>
                </a:r>
                <a:endParaRPr lang="en-US" altLang="zh-CN" sz="2400" dirty="0">
                  <a:ea typeface="Adobe 楷体 Std R"/>
                </a:endParaRPr>
              </a:p>
              <a:p>
                <a:pPr marL="0" indent="0" algn="just">
                  <a:buNone/>
                </a:pPr>
                <a:r>
                  <a:rPr lang="zh-CN" altLang="zh-CN" sz="2400" dirty="0"/>
                  <a:t>满足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/>
                        <a:ea typeface="Adobe 楷体 Std R"/>
                      </a:rPr>
                      <m:t>𝜀</m:t>
                    </m:r>
                  </m:oMath>
                </a14:m>
                <a:r>
                  <a:rPr lang="zh-CN" altLang="zh-CN" sz="2400" dirty="0"/>
                  <a:t>最小的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dirty="0">
                            <a:latin typeface="Cambria Math" panose="02040503050406030204"/>
                          </a:rPr>
                          <m:t>𝜇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2400" dirty="0"/>
                  <a:t>即为最佳的是正交变换的基。</a:t>
                </a:r>
                <a:endParaRPr lang="zh-CN" altLang="en-US" sz="2400" dirty="0">
                  <a:ea typeface="Adobe 楷体 Std R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80728"/>
                <a:ext cx="8229600" cy="5400600"/>
              </a:xfrm>
              <a:blipFill rotWithShape="1">
                <a:blip r:embed="rId1"/>
                <a:stretch>
                  <a:fillRect t="-5" b="-19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3581986" y="301794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zh-CN" altLang="en-US" sz="2000" b="0" dirty="0">
                <a:solidFill>
                  <a:srgbClr val="262699"/>
                </a:solidFill>
                <a:latin typeface="Adobe 楷体 Std R" pitchFamily="18" charset="-122"/>
                <a:ea typeface="Adobe 楷体 Std R" pitchFamily="18" charset="-122"/>
                <a:cs typeface="+mj-cs"/>
              </a:rPr>
              <a:t>特征提取与选择</a:t>
            </a:r>
            <a:endParaRPr lang="zh-CN" altLang="en-US" sz="2000" b="0" dirty="0">
              <a:solidFill>
                <a:srgbClr val="262699"/>
              </a:solidFill>
              <a:latin typeface="Adobe 楷体 Std R" pitchFamily="18" charset="-122"/>
              <a:ea typeface="Adobe 楷体 Std R" pitchFamily="18" charset="-122"/>
              <a:cs typeface="+mj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92286"/>
                <a:ext cx="8229600" cy="55610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400" dirty="0">
                    <a:ea typeface="Adobe 楷体 Std R"/>
                  </a:rPr>
                  <a:t>        事实上，</a:t>
                </a:r>
                <a:r>
                  <a:rPr lang="en-US" altLang="zh-CN" sz="2400" dirty="0">
                    <a:ea typeface="Adobe 楷体 Std R"/>
                  </a:rPr>
                  <a:t>K-L</a:t>
                </a:r>
                <a:r>
                  <a:rPr lang="zh-CN" altLang="en-US" sz="2400" dirty="0">
                    <a:ea typeface="Adobe 楷体 Std R"/>
                  </a:rPr>
                  <a:t>变换的实质是任一样本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dirty="0" smtClean="0">
                        <a:latin typeface="Cambria Math" panose="02040503050406030204"/>
                        <a:ea typeface="Adobe 楷体 Std R"/>
                      </a:rPr>
                      <m:t>X</m:t>
                    </m:r>
                  </m:oMath>
                </a14:m>
                <a:r>
                  <a:rPr lang="zh-CN" altLang="en-US" sz="2400" dirty="0">
                    <a:ea typeface="Adobe 楷体 Std R"/>
                  </a:rPr>
                  <a:t>可以表示成一组正交基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dirty="0">
                            <a:latin typeface="Cambria Math" panose="02040503050406030204"/>
                          </a:rPr>
                          <m:t>𝜇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>
                    <a:ea typeface="Adobe 楷体 Std R"/>
                  </a:rPr>
                  <a:t>的线性组合，设线性组合的系数为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/>
                          </a:rPr>
                          <m:t>𝑐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/>
                          </a:rPr>
                          <m:t>𝑗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/>
                      </a:rPr>
                      <m:t> </m:t>
                    </m:r>
                  </m:oMath>
                </a14:m>
                <a:r>
                  <a:rPr lang="zh-CN" altLang="en-US" sz="2400" dirty="0">
                    <a:ea typeface="Adobe 楷体 Std R"/>
                  </a:rPr>
                  <a:t>，则对任一正交基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dirty="0">
                            <a:latin typeface="Cambria Math" panose="02040503050406030204"/>
                          </a:rPr>
                          <m:t>𝜇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>
                    <a:ea typeface="Adobe 楷体 Std R"/>
                  </a:rPr>
                  <a:t>对应的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/>
                          </a:rPr>
                          <m:t>𝑐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>
                    <a:ea typeface="Adobe 楷体 Std R"/>
                  </a:rPr>
                  <a:t>值，可以通过</a:t>
                </a:r>
                <a:r>
                  <a:rPr lang="en-US" altLang="zh-CN" sz="2400" dirty="0">
                    <a:ea typeface="Adobe 楷体 Std R"/>
                  </a:rPr>
                  <a:t>X</a:t>
                </a:r>
                <a:r>
                  <a:rPr lang="zh-CN" altLang="en-US" sz="2400" dirty="0">
                    <a:ea typeface="Adobe 楷体 Std R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dirty="0">
                            <a:latin typeface="Cambria Math" panose="02040503050406030204"/>
                          </a:rPr>
                          <m:t>𝜇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>
                    <a:ea typeface="Adobe 楷体 Std R"/>
                  </a:rPr>
                  <a:t>的点积来计算，即 </a:t>
                </a:r>
                <a:endParaRPr lang="en-US" altLang="zh-CN" sz="2400" dirty="0">
                  <a:ea typeface="Adobe 楷体 Std R"/>
                </a:endParaRPr>
              </a:p>
              <a:p>
                <a:pPr marL="0" indent="0" algn="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/>
                          </a:rPr>
                          <m:t>𝑐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/>
                          </a:rPr>
                          <m:t>𝑗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 panose="02040503050406030204"/>
                      </a:rPr>
                      <m:t>=</m:t>
                    </m:r>
                    <m:sSup>
                      <m:s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 dirty="0">
                                <a:latin typeface="Cambria Math" panose="02040503050406030204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altLang="zh-CN" sz="2400" b="0" i="1" dirty="0" smtClean="0">
                            <a:latin typeface="Cambria Math" panose="02040503050406030204"/>
                          </a:rPr>
                          <m:t>𝑇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 panose="02040503050406030204"/>
                      </a:rPr>
                      <m:t>𝑋</m:t>
                    </m:r>
                  </m:oMath>
                </a14:m>
                <a:r>
                  <a:rPr lang="en-US" altLang="zh-CN" sz="2400" dirty="0">
                    <a:ea typeface="Adobe 楷体 Std R"/>
                  </a:rPr>
                  <a:t>                                   (6-40)</a:t>
                </a:r>
                <a:endParaRPr lang="en-US" altLang="zh-CN" sz="2400" dirty="0">
                  <a:ea typeface="Adobe 楷体 Std R"/>
                </a:endParaRPr>
              </a:p>
              <a:p>
                <a:pPr marL="0" indent="0" algn="just">
                  <a:buNone/>
                </a:pPr>
                <a:r>
                  <a:rPr lang="zh-CN" altLang="en-US" sz="2400" dirty="0">
                    <a:ea typeface="Adobe 楷体 Std R"/>
                  </a:rPr>
                  <a:t>        如果要求获取一组系数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/>
                          </a:rPr>
                          <m:t>𝑐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>
                    <a:ea typeface="Adobe 楷体 Std R"/>
                  </a:rPr>
                  <a:t>，并将其表示成一个向量形式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/>
                        <a:ea typeface="Adobe 楷体 Std R"/>
                      </a:rPr>
                      <m:t>𝐶</m:t>
                    </m:r>
                    <m:r>
                      <a:rPr lang="en-US" altLang="zh-CN" sz="2400" b="0" i="1" smtClean="0">
                        <a:latin typeface="Cambria Math" panose="02040503050406030204"/>
                        <a:ea typeface="Adobe 楷体 Std R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dobe 楷体 Std R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Adobe 楷体 Std R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Adobe 楷体 Std R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/>
                                    <a:ea typeface="Adobe 楷体 Std R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/>
                                    <a:ea typeface="Adobe 楷体 Std R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latin typeface="Cambria Math" panose="02040503050406030204"/>
                                <a:ea typeface="Adobe 楷体 Std R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Adobe 楷体 Std R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/>
                                    <a:ea typeface="Adobe 楷体 Std R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/>
                                    <a:ea typeface="Adobe 楷体 Std R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latin typeface="Cambria Math" panose="02040503050406030204"/>
                                <a:ea typeface="Adobe 楷体 Std R"/>
                              </a:rPr>
                              <m:t>,…</m:t>
                            </m:r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 panose="02040503050406030204"/>
                            <a:ea typeface="Adobe 楷体 Std R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2400" dirty="0">
                    <a:ea typeface="Adobe 楷体 Std R"/>
                  </a:rPr>
                  <a:t>，则可以通过下式求得。</a:t>
                </a:r>
                <a:endParaRPr lang="en-US" altLang="zh-CN" sz="2400" dirty="0">
                  <a:ea typeface="Adobe 楷体 Std R"/>
                </a:endParaRPr>
              </a:p>
              <a:p>
                <a:pPr marL="0" indent="0" algn="r">
                  <a:buNone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/>
                        <a:ea typeface="Adobe 楷体 Std R"/>
                      </a:rPr>
                      <m:t>𝐶</m:t>
                    </m:r>
                    <m:r>
                      <a:rPr lang="en-US" altLang="zh-CN" sz="2400" b="0" i="1" smtClean="0">
                        <a:latin typeface="Cambria Math" panose="02040503050406030204"/>
                        <a:ea typeface="Adobe 楷体 Std R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dobe 楷体 Std R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Adobe 楷体 Std R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Adobe 楷体 Std R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Adobe 楷体 Std R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400" b="0" i="1" smtClean="0">
                                          <a:latin typeface="Cambria Math" panose="02040503050406030204"/>
                                          <a:ea typeface="Adobe 楷体 Std R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/>
                                          <a:ea typeface="Adobe 楷体 Std R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/>
                                      <a:ea typeface="Adobe 楷体 Std R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Adobe 楷体 Std R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Adobe 楷体 Std R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400" i="1">
                                          <a:latin typeface="Cambria Math" panose="02040503050406030204"/>
                                          <a:ea typeface="Adobe 楷体 Std R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/>
                                          <a:ea typeface="Adobe 楷体 Std R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/>
                                      <a:ea typeface="Adobe 楷体 Std R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Adobe 楷体 Std R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smtClean="0">
                                        <a:latin typeface="Cambria Math" panose="02040503050406030204"/>
                                        <a:ea typeface="Adobe 楷体 Std R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p>
                                      <m:sSup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Adobe 楷体 Std R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Adobe 楷体 Std R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sz="2400" i="1">
                                                <a:latin typeface="Cambria Math" panose="02040503050406030204"/>
                                                <a:ea typeface="Adobe 楷体 Std R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/>
                                                <a:ea typeface="Adobe 楷体 Std R"/>
                                              </a:rPr>
                                              <m:t>𝑑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altLang="zh-CN" sz="2400" i="1">
                                            <a:latin typeface="Cambria Math" panose="02040503050406030204"/>
                                            <a:ea typeface="Adobe 楷体 Std R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en-US" altLang="zh-CN" sz="2400" b="0" i="1" smtClean="0">
                        <a:latin typeface="Cambria Math" panose="02040503050406030204"/>
                        <a:ea typeface="Adobe 楷体 Std R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/>
                        <a:ea typeface="Adobe 楷体 Std R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/>
                        <a:ea typeface="Adobe 楷体 Std R"/>
                      </a:rPr>
                      <m:t>𝑈𝑋</m:t>
                    </m:r>
                  </m:oMath>
                </a14:m>
                <a:r>
                  <a:rPr lang="en-US" altLang="zh-CN" sz="2400" dirty="0">
                    <a:ea typeface="Adobe 楷体 Std R"/>
                  </a:rPr>
                  <a:t>                          (6-41)</a:t>
                </a:r>
                <a:endParaRPr lang="en-US" altLang="zh-CN" sz="2400" dirty="0">
                  <a:ea typeface="Adobe 楷体 Std R"/>
                </a:endParaRPr>
              </a:p>
              <a:p>
                <a:pPr marL="0" indent="0" algn="just">
                  <a:buNone/>
                </a:pPr>
                <a:r>
                  <a:rPr lang="zh-CN" altLang="zh-CN" sz="2400" dirty="0"/>
                  <a:t>这里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/>
                      </a:rPr>
                      <m:t>𝑈</m:t>
                    </m:r>
                  </m:oMath>
                </a14:m>
                <a:r>
                  <a:rPr lang="zh-CN" altLang="zh-CN" sz="2400" dirty="0"/>
                  <a:t>就是一个变换矩阵，其中每一行是某一个正交基向量的转置。由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/>
                      </a:rPr>
                      <m:t>𝑋</m:t>
                    </m:r>
                  </m:oMath>
                </a14:m>
                <a:r>
                  <a:rPr lang="zh-CN" altLang="zh-CN" sz="2400" dirty="0"/>
                  <a:t>计算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/>
                        <a:ea typeface="Adobe 楷体 Std R"/>
                      </a:rPr>
                      <m:t>𝐶</m:t>
                    </m:r>
                  </m:oMath>
                </a14:m>
                <a:r>
                  <a:rPr lang="zh-CN" altLang="zh-CN" sz="2400" dirty="0"/>
                  <a:t>称为对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/>
                        <a:ea typeface="Adobe 楷体 Std R"/>
                      </a:rPr>
                      <m:t>𝑋</m:t>
                    </m:r>
                  </m:oMath>
                </a14:m>
                <a:r>
                  <a:rPr lang="zh-CN" altLang="zh-CN" sz="2400" dirty="0"/>
                  <a:t>的分解，反过来，也可以用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/>
                        <a:ea typeface="Adobe 楷体 Std R"/>
                      </a:rPr>
                      <m:t>𝐶</m:t>
                    </m:r>
                  </m:oMath>
                </a14:m>
                <a:r>
                  <a:rPr lang="zh-CN" altLang="zh-CN" sz="2400" dirty="0"/>
                  <a:t>重构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/>
                        <a:ea typeface="Adobe 楷体 Std R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/>
                        <a:ea typeface="Adobe 楷体 Std R"/>
                      </a:rPr>
                      <m:t> </m:t>
                    </m:r>
                  </m:oMath>
                </a14:m>
                <a:r>
                  <a:rPr lang="zh-CN" altLang="zh-CN" sz="2400" dirty="0"/>
                  <a:t>，重构的信号表示成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/>
                          </a:rPr>
                          <m:t>𝑋</m:t>
                        </m:r>
                      </m:e>
                    </m:acc>
                    <m:r>
                      <a:rPr lang="en-US" altLang="zh-CN" sz="2400" i="1" smtClean="0">
                        <a:latin typeface="Cambria Math" panose="02040503050406030204"/>
                        <a:ea typeface="Cambria Math" panose="02040503050406030204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/>
                        <a:ea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/>
                            <a:ea typeface="Cambria Math" panose="02040503050406030204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/>
                            <a:ea typeface="Cambria Math" panose="02040503050406030204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/>
                        <a:ea typeface="Cambria Math" panose="02040503050406030204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/>
                            <a:ea typeface="Cambria Math" panose="02040503050406030204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/>
                        <a:ea typeface="Cambria Math" panose="02040503050406030204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/>
                            <a:ea typeface="Cambria Math" panose="02040503050406030204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CN" sz="2400" dirty="0"/>
                  <a:t>)</a:t>
                </a:r>
                <a:r>
                  <a:rPr lang="zh-CN" altLang="zh-CN" sz="2400" dirty="0"/>
                  <a:t>，则</a:t>
                </a:r>
                <a:endParaRPr lang="zh-CN" altLang="en-US" sz="2400" dirty="0">
                  <a:ea typeface="Adobe 楷体 Std R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92286"/>
                <a:ext cx="8229600" cy="5561050"/>
              </a:xfrm>
              <a:blipFill rotWithShape="1">
                <a:blip r:embed="rId1"/>
                <a:stretch>
                  <a:fillRect t="-2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3581986" y="301794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zh-CN" altLang="en-US" sz="2000" b="0" dirty="0">
                <a:solidFill>
                  <a:srgbClr val="262699"/>
                </a:solidFill>
                <a:latin typeface="Adobe 楷体 Std R" pitchFamily="18" charset="-122"/>
                <a:ea typeface="Adobe 楷体 Std R" pitchFamily="18" charset="-122"/>
                <a:cs typeface="+mj-cs"/>
              </a:rPr>
              <a:t>特征提取与选择</a:t>
            </a:r>
            <a:endParaRPr lang="zh-CN" altLang="en-US" sz="2000" b="0" dirty="0">
              <a:solidFill>
                <a:srgbClr val="262699"/>
              </a:solidFill>
              <a:latin typeface="Adobe 楷体 Std R" pitchFamily="18" charset="-122"/>
              <a:ea typeface="Adobe 楷体 Std R" pitchFamily="18" charset="-122"/>
              <a:cs typeface="+mj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80728"/>
                <a:ext cx="8229600" cy="5400600"/>
              </a:xfrm>
            </p:spPr>
            <p:txBody>
              <a:bodyPr/>
              <a:lstStyle/>
              <a:p>
                <a:pPr marL="0" indent="0" algn="r">
                  <a:buNone/>
                </a:pPr>
                <a14:m>
                  <m:oMath xmlns:m="http://schemas.openxmlformats.org/officeDocument/2006/math">
                    <m:acc>
                      <m:accPr>
                        <m:ctrlPr>
                          <a:rPr lang="zh-CN" altLang="en-US" sz="2400" i="1" smtClean="0">
                            <a:latin typeface="Cambria Math" panose="02040503050406030204" pitchFamily="18" charset="0"/>
                            <a:ea typeface="Adobe 楷体 Std R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/>
                            <a:ea typeface="Adobe 楷体 Std R"/>
                          </a:rPr>
                          <m:t>𝑋</m:t>
                        </m:r>
                      </m:e>
                    </m:acc>
                    <m:r>
                      <a:rPr lang="en-US" altLang="zh-CN" sz="2400" i="1" smtClean="0">
                        <a:latin typeface="Cambria Math" panose="02040503050406030204"/>
                        <a:ea typeface="Cambria Math" panose="02040503050406030204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  <a:ea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  <a:ea typeface="Cambria Math" panose="02040503050406030204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/>
                                            <a:ea typeface="Cambria Math" panose="02040503050406030204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0" i="1" smtClean="0">
                                            <a:latin typeface="Cambria Math" panose="02040503050406030204"/>
                                            <a:ea typeface="Cambria Math" panose="02040503050406030204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en-US" altLang="zh-CN" sz="2400" i="1" smtClean="0">
                        <a:latin typeface="Cambria Math" panose="02040503050406030204"/>
                        <a:ea typeface="Cambria Math" panose="02040503050406030204"/>
                      </a:rPr>
                      <m:t>=</m:t>
                    </m:r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zh-CN" altLang="en-US" sz="2400" i="1" smtClean="0">
                                <a:latin typeface="Cambria Math" panose="02040503050406030204"/>
                                <a:ea typeface="Cambria Math" panose="02040503050406030204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/>
                                <a:ea typeface="Cambria Math" panose="02040503050406030204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/>
                            <a:ea typeface="Cambria Math" panose="02040503050406030204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/>
                                <a:ea typeface="Cambria Math" panose="02040503050406030204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/>
                                <a:ea typeface="Cambria Math" panose="02040503050406030204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/>
                            <a:ea typeface="Cambria Math" panose="02040503050406030204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/>
                                <a:ea typeface="Cambria Math" panose="02040503050406030204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/>
                                <a:ea typeface="Cambria Math" panose="02040503050406030204"/>
                              </a:rPr>
                              <m:t>𝑑</m:t>
                            </m:r>
                          </m:sub>
                        </m:sSub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ea typeface="Cambria Math" panose="02040503050406030204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0" i="1" smtClean="0">
                                            <a:latin typeface="Cambria Math" panose="02040503050406030204"/>
                                            <a:ea typeface="Cambria Math" panose="02040503050406030204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latin typeface="Cambria Math" panose="02040503050406030204"/>
                                            <a:ea typeface="Cambria Math" panose="02040503050406030204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en-US" altLang="zh-CN" sz="2400" i="1" smtClean="0">
                        <a:latin typeface="Cambria Math" panose="02040503050406030204"/>
                        <a:ea typeface="Cambria Math" panose="02040503050406030204"/>
                      </a:rPr>
                      <m:t>=</m:t>
                    </m:r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/>
                            <a:ea typeface="Cambria Math" panose="02040503050406030204"/>
                          </a:rPr>
                          <m:t>𝑈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/>
                            <a:ea typeface="Cambria Math" panose="02040503050406030204"/>
                          </a:rPr>
                          <m:t>𝑇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/>
                        <a:ea typeface="Cambria Math" panose="02040503050406030204"/>
                      </a:rPr>
                      <m:t>𝐶</m:t>
                    </m:r>
                  </m:oMath>
                </a14:m>
                <a:r>
                  <a:rPr lang="en-US" altLang="zh-CN" sz="2400" dirty="0">
                    <a:ea typeface="Adobe 楷体 Std R"/>
                  </a:rPr>
                  <a:t>         (6-42)</a:t>
                </a:r>
                <a:endParaRPr lang="en-US" altLang="zh-CN" sz="2400" dirty="0">
                  <a:ea typeface="Adobe 楷体 Std R"/>
                </a:endParaRPr>
              </a:p>
              <a:p>
                <a:pPr marL="0" indent="0" algn="just">
                  <a:buNone/>
                </a:pPr>
                <a:r>
                  <a:rPr lang="zh-CN" altLang="en-US" sz="2400" dirty="0">
                    <a:ea typeface="Adobe 楷体 Std R"/>
                  </a:rPr>
                  <a:t>显然，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zh-CN" altLang="en-US" sz="2400" i="1">
                            <a:latin typeface="Cambria Math" panose="02040503050406030204" pitchFamily="18" charset="0"/>
                            <a:ea typeface="Adobe 楷体 Std R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/>
                            <a:ea typeface="Adobe 楷体 Std R"/>
                          </a:rPr>
                          <m:t>𝑋</m:t>
                        </m:r>
                      </m:e>
                    </m:acc>
                  </m:oMath>
                </a14:m>
                <a:r>
                  <a:rPr lang="zh-CN" altLang="en-US" sz="2400" dirty="0">
                    <a:ea typeface="Adobe 楷体 Std R"/>
                  </a:rPr>
                  <a:t>与原向量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/>
                        <a:ea typeface="Adobe 楷体 Std R"/>
                      </a:rPr>
                      <m:t>𝑋</m:t>
                    </m:r>
                  </m:oMath>
                </a14:m>
                <a:r>
                  <a:rPr lang="zh-CN" altLang="en-US" sz="2400" dirty="0">
                    <a:ea typeface="Adobe 楷体 Std R"/>
                  </a:rPr>
                  <a:t>的一个近似，要使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zh-CN" altLang="en-US" sz="2400" i="1">
                            <a:latin typeface="Cambria Math" panose="02040503050406030204" pitchFamily="18" charset="0"/>
                            <a:ea typeface="Adobe 楷体 Std R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/>
                            <a:ea typeface="Adobe 楷体 Std R"/>
                          </a:rPr>
                          <m:t>𝑋</m:t>
                        </m:r>
                      </m:e>
                    </m:acc>
                  </m:oMath>
                </a14:m>
                <a:r>
                  <a:rPr lang="zh-CN" altLang="en-US" sz="2400" dirty="0">
                    <a:ea typeface="Adobe 楷体 Std R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/>
                        <a:ea typeface="Adobe 楷体 Std R"/>
                      </a:rPr>
                      <m:t>𝑋</m:t>
                    </m:r>
                  </m:oMath>
                </a14:m>
                <a:r>
                  <a:rPr lang="zh-CN" altLang="en-US" sz="2400" dirty="0">
                    <a:ea typeface="Adobe 楷体 Std R"/>
                  </a:rPr>
                  <a:t>的差异越小，则要用更多维数的正交基。</a:t>
                </a:r>
                <a:endParaRPr lang="zh-CN" altLang="en-US" sz="2400" dirty="0">
                  <a:ea typeface="Adobe 楷体 Std R"/>
                </a:endParaRPr>
              </a:p>
              <a:p>
                <a:pPr marL="0" indent="0" algn="just">
                  <a:buNone/>
                </a:pPr>
                <a:r>
                  <a:rPr lang="zh-CN" altLang="en-US" sz="2400" dirty="0">
                    <a:ea typeface="Adobe 楷体 Std R"/>
                  </a:rPr>
                  <a:t>        将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/>
                        <a:ea typeface="Adobe 楷体 Std R"/>
                      </a:rPr>
                      <m:t>𝑋</m:t>
                    </m:r>
                    <m:r>
                      <a:rPr lang="en-US" altLang="zh-CN" sz="2400" i="1" smtClean="0">
                        <a:latin typeface="Cambria Math" panose="02040503050406030204"/>
                        <a:ea typeface="Cambria Math" panose="02040503050406030204"/>
                      </a:rPr>
                      <m:t>−</m:t>
                    </m:r>
                    <m:acc>
                      <m:accPr>
                        <m:ctrlPr>
                          <a:rPr lang="zh-CN" altLang="en-US" sz="2400" i="1">
                            <a:latin typeface="Cambria Math" panose="02040503050406030204" pitchFamily="18" charset="0"/>
                            <a:ea typeface="Adobe 楷体 Std R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/>
                            <a:ea typeface="Adobe 楷体 Std R"/>
                          </a:rPr>
                          <m:t>𝑋</m:t>
                        </m:r>
                      </m:e>
                    </m:acc>
                    <m:r>
                      <a:rPr lang="en-US" altLang="zh-CN" sz="2400" b="0" i="1" smtClean="0">
                        <a:latin typeface="Cambria Math" panose="02040503050406030204"/>
                        <a:ea typeface="Adobe 楷体 Std R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400" i="1">
                            <a:latin typeface="Cambria Math" panose="02040503050406030204"/>
                          </a:rPr>
                          <m:t>𝑗</m:t>
                        </m:r>
                        <m:r>
                          <a:rPr lang="en-US" altLang="zh-CN" sz="2400" i="1">
                            <a:latin typeface="Cambria Math" panose="02040503050406030204"/>
                          </a:rPr>
                          <m:t>=</m:t>
                        </m:r>
                        <m:r>
                          <a:rPr lang="en-US" altLang="zh-CN" sz="2400" b="0" i="1" smtClean="0">
                            <a:latin typeface="Cambria Math" panose="02040503050406030204"/>
                          </a:rPr>
                          <m:t>𝑑</m:t>
                        </m:r>
                        <m:r>
                          <a:rPr lang="en-US" altLang="zh-CN" sz="2400" b="0" i="1" smtClean="0">
                            <a:latin typeface="Cambria Math" panose="02040503050406030204"/>
                          </a:rPr>
                          <m:t>+</m:t>
                        </m:r>
                        <m:r>
                          <a:rPr lang="en-US" altLang="zh-CN" sz="2400" b="0" i="1" smtClean="0">
                            <a:latin typeface="Cambria Math" panose="02040503050406030204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/>
                              </a:rPr>
                              <m:t>𝑗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dirty="0">
                            <a:latin typeface="Cambria Math" panose="02040503050406030204"/>
                          </a:rPr>
                          <m:t>𝜇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>
                    <a:ea typeface="Adobe 楷体 Std R"/>
                  </a:rPr>
                  <a:t>代入</a:t>
                </a:r>
                <a:r>
                  <a:rPr lang="en-US" altLang="zh-CN" sz="2400" dirty="0">
                    <a:ea typeface="Adobe 楷体 Std R"/>
                  </a:rPr>
                  <a:t>(6-39)</a:t>
                </a:r>
                <a:r>
                  <a:rPr lang="zh-CN" altLang="en-US" sz="2400" dirty="0">
                    <a:ea typeface="Adobe 楷体 Std R"/>
                  </a:rPr>
                  <a:t>，可得到</a:t>
                </a:r>
                <a:endParaRPr lang="en-US" altLang="zh-CN" sz="2400" dirty="0">
                  <a:ea typeface="Adobe 楷体 Std R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latin typeface="Cambria Math" panose="02040503050406030204"/>
                          <a:ea typeface="Adobe 楷体 Std R"/>
                        </a:rPr>
                        <m:t>𝜀</m:t>
                      </m:r>
                      <m:r>
                        <a:rPr lang="en-US" altLang="zh-CN" sz="2400" b="0" i="1" smtClean="0">
                          <a:latin typeface="Cambria Math" panose="02040503050406030204"/>
                          <a:ea typeface="Adobe 楷体 Std R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/>
                          <a:ea typeface="Adobe 楷体 Std R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Adobe 楷体 Std R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Adobe 楷体 Std R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altLang="zh-CN" sz="2400" i="1">
                                      <a:latin typeface="Cambria Math" panose="02040503050406030204"/>
                                    </a:rPr>
                                    <m:t>𝑗</m:t>
                                  </m:r>
                                  <m:r>
                                    <a:rPr lang="en-US" altLang="zh-CN" sz="2400" i="1">
                                      <a:latin typeface="Cambria Math" panose="02040503050406030204"/>
                                    </a:rPr>
                                    <m:t>=</m:t>
                                  </m:r>
                                  <m:r>
                                    <a:rPr lang="en-US" altLang="zh-CN" sz="2400" i="1">
                                      <a:latin typeface="Cambria Math" panose="02040503050406030204"/>
                                    </a:rPr>
                                    <m:t>𝑑</m:t>
                                  </m:r>
                                  <m:r>
                                    <a:rPr lang="en-US" altLang="zh-CN" sz="2400" i="1">
                                      <a:latin typeface="Cambria Math" panose="02040503050406030204"/>
                                    </a:rPr>
                                    <m:t>+</m:t>
                                  </m:r>
                                  <m:r>
                                    <a:rPr lang="en-US" altLang="zh-CN" sz="2400" i="1">
                                      <a:latin typeface="Cambria Math" panose="02040503050406030204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400" i="1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∞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 dirty="0">
                                      <a:latin typeface="Cambria Math" panose="02040503050406030204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/>
                                  <a:ea typeface="Adobe 楷体 Std R"/>
                                </a:rPr>
                                <m:t>𝑇</m:t>
                              </m:r>
                            </m:sup>
                          </m:sSup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sz="2400" i="1">
                                  <a:latin typeface="Cambria Math" panose="02040503050406030204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altLang="zh-CN" sz="2400" i="1">
                                  <a:latin typeface="Cambria Math" panose="02040503050406030204"/>
                                </a:rPr>
                                <m:t>𝑑</m:t>
                              </m:r>
                              <m:r>
                                <a:rPr lang="en-US" altLang="zh-CN" sz="2400" i="1">
                                  <a:latin typeface="Cambria Math" panose="02040503050406030204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 panose="02040503050406030204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/>
                                  <a:ea typeface="Cambria Math" panose="02040503050406030204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 dirty="0">
                                  <a:latin typeface="Cambria Math" panose="02040503050406030204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400" b="0" i="1" dirty="0">
                  <a:latin typeface="Cambria Math" panose="02040503050406030204"/>
                  <a:ea typeface="Adobe 楷体 Std R"/>
                </a:endParaRPr>
              </a:p>
              <a:p>
                <a:pPr marL="0" indent="0" algn="r">
                  <a:buNone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/>
                        <a:ea typeface="Cambria Math" panose="02040503050406030204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/>
                        <a:ea typeface="Cambria Math" panose="02040503050406030204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sz="2400" i="1">
                                <a:latin typeface="Cambria Math" panose="02040503050406030204"/>
                              </a:rPr>
                              <m:t>𝑗</m:t>
                            </m:r>
                            <m:r>
                              <a:rPr lang="en-US" altLang="zh-CN" sz="2400" i="1">
                                <a:latin typeface="Cambria Math" panose="02040503050406030204"/>
                              </a:rPr>
                              <m:t>=</m:t>
                            </m:r>
                            <m:r>
                              <a:rPr lang="en-US" altLang="zh-CN" sz="2400" i="1">
                                <a:latin typeface="Cambria Math" panose="02040503050406030204"/>
                              </a:rPr>
                              <m:t>𝑑</m:t>
                            </m:r>
                            <m:r>
                              <a:rPr lang="en-US" altLang="zh-CN" sz="2400" i="1">
                                <a:latin typeface="Cambria Math" panose="02040503050406030204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/>
                                <a:ea typeface="Cambria Math" panose="02040503050406030204"/>
                              </a:rPr>
                              <m:t>∞</m:t>
                            </m:r>
                          </m:sup>
                          <m:e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altLang="zh-CN" sz="2400" i="1">
                                    <a:latin typeface="Cambria Math" panose="02040503050406030204"/>
                                  </a:rPr>
                                  <m:t>𝑗</m:t>
                                </m:r>
                                <m:r>
                                  <a:rPr lang="en-US" altLang="zh-CN" sz="2400" i="1">
                                    <a:latin typeface="Cambria Math" panose="02040503050406030204"/>
                                  </a:rPr>
                                  <m:t>=</m:t>
                                </m:r>
                                <m:r>
                                  <a:rPr lang="en-US" altLang="zh-CN" sz="2400" i="1">
                                    <a:latin typeface="Cambria Math" panose="02040503050406030204"/>
                                  </a:rPr>
                                  <m:t>𝑑</m:t>
                                </m:r>
                                <m:r>
                                  <a:rPr lang="en-US" altLang="zh-CN" sz="2400" i="1">
                                    <a:latin typeface="Cambria Math" panose="02040503050406030204"/>
                                  </a:rPr>
                                  <m:t>+</m:t>
                                </m:r>
                                <m:r>
                                  <a:rPr lang="en-US" altLang="zh-CN" sz="2400" i="1">
                                    <a:latin typeface="Cambria Math" panose="02040503050406030204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  <m:sSup>
                          <m:sSupPr>
                            <m:ctrlPr>
                              <a:rPr lang="en-US" altLang="zh-CN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 dirty="0">
                                    <a:latin typeface="Cambria Math" panose="02040503050406030204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/>
                                  </a:rPr>
                                  <m:t>𝑗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400" b="0" i="1" dirty="0" smtClean="0">
                                <a:latin typeface="Cambria Math" panose="02040503050406030204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 dirty="0">
                                <a:latin typeface="Cambria Math" panose="02040503050406030204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latin typeface="Cambria Math" panose="02040503050406030204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400" dirty="0">
                    <a:ea typeface="Adobe 楷体 Std R"/>
                  </a:rPr>
                  <a:t>                  (6-43)</a:t>
                </a:r>
                <a:endParaRPr lang="en-US" altLang="zh-CN" sz="2400" dirty="0">
                  <a:ea typeface="Adobe 楷体 Std R"/>
                </a:endParaRPr>
              </a:p>
              <a:p>
                <a:pPr marL="0" indent="0" algn="just">
                  <a:buNone/>
                </a:pPr>
                <a:r>
                  <a:rPr lang="zh-CN" altLang="en-US" sz="2400" dirty="0">
                    <a:ea typeface="Adobe 楷体 Std R"/>
                  </a:rPr>
                  <a:t>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dirty="0">
                            <a:latin typeface="Cambria Math" panose="02040503050406030204"/>
                          </a:rPr>
                          <m:t>𝜇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/>
                          </a:rPr>
                          <m:t>𝑗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 panose="02040503050406030204"/>
                      </a:rPr>
                      <m:t>(</m:t>
                    </m:r>
                    <m:r>
                      <a:rPr lang="en-US" altLang="zh-CN" sz="2400" b="0" i="1" dirty="0" smtClean="0">
                        <a:latin typeface="Cambria Math" panose="02040503050406030204"/>
                      </a:rPr>
                      <m:t>𝑗</m:t>
                    </m:r>
                    <m:r>
                      <a:rPr lang="en-US" altLang="zh-CN" sz="2400" b="0" i="1" dirty="0" smtClean="0">
                        <a:latin typeface="Cambria Math" panose="02040503050406030204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 panose="02040503050406030204"/>
                      </a:rPr>
                      <m:t>1</m:t>
                    </m:r>
                    <m:r>
                      <a:rPr lang="en-US" altLang="zh-CN" sz="2400" b="0" i="1" dirty="0" smtClean="0">
                        <a:latin typeface="Cambria Math" panose="02040503050406030204"/>
                      </a:rPr>
                      <m:t>,</m:t>
                    </m:r>
                    <m:r>
                      <a:rPr lang="en-US" altLang="zh-CN" sz="2400" b="0" i="1" dirty="0" smtClean="0">
                        <a:latin typeface="Cambria Math" panose="02040503050406030204"/>
                      </a:rPr>
                      <m:t>2</m:t>
                    </m:r>
                    <m:r>
                      <a:rPr lang="en-US" altLang="zh-CN" sz="2400" b="0" i="1" dirty="0" smtClean="0">
                        <a:latin typeface="Cambria Math" panose="02040503050406030204"/>
                      </a:rPr>
                      <m:t>,…,∞)</m:t>
                    </m:r>
                  </m:oMath>
                </a14:m>
                <a:r>
                  <a:rPr lang="zh-CN" altLang="zh-CN" sz="2400" dirty="0"/>
                  <a:t>是正交归一坐标系，有</a:t>
                </a:r>
                <a:endParaRPr lang="en-US" altLang="zh-CN" sz="2400" dirty="0"/>
              </a:p>
              <a:p>
                <a:pPr marL="0" indent="0" algn="r">
                  <a:buNone/>
                </a:pP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/>
                        <a:ea typeface="Adobe 楷体 Std R"/>
                      </a:rPr>
                      <m:t>𝜀</m:t>
                    </m:r>
                    <m:r>
                      <a:rPr lang="en-US" altLang="zh-CN" sz="2400" i="1">
                        <a:latin typeface="Cambria Math" panose="02040503050406030204"/>
                        <a:ea typeface="Adobe 楷体 Std R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/>
                        <a:ea typeface="Adobe 楷体 Std R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Adobe 楷体 Std R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sz="2400" i="1">
                                <a:latin typeface="Cambria Math" panose="02040503050406030204"/>
                              </a:rPr>
                              <m:t>𝑗</m:t>
                            </m:r>
                            <m:r>
                              <a:rPr lang="en-US" altLang="zh-CN" sz="2400" i="1">
                                <a:latin typeface="Cambria Math" panose="02040503050406030204"/>
                              </a:rPr>
                              <m:t>=</m:t>
                            </m:r>
                            <m:r>
                              <a:rPr lang="en-US" altLang="zh-CN" sz="2400" i="1">
                                <a:latin typeface="Cambria Math" panose="02040503050406030204"/>
                              </a:rPr>
                              <m:t>𝑑</m:t>
                            </m:r>
                            <m:r>
                              <a:rPr lang="en-US" altLang="zh-CN" sz="2400" i="1">
                                <a:latin typeface="Cambria Math" panose="02040503050406030204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/>
                                <a:ea typeface="Cambria Math" panose="02040503050406030204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d>
                  </m:oMath>
                </a14:m>
                <a:r>
                  <a:rPr lang="en-US" altLang="zh-CN" sz="2400" dirty="0">
                    <a:ea typeface="Adobe 楷体 Std R"/>
                  </a:rPr>
                  <a:t>                            (6-44)</a:t>
                </a:r>
                <a:endParaRPr lang="zh-CN" altLang="en-US" sz="2400" dirty="0">
                  <a:ea typeface="Adobe 楷体 Std R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80728"/>
                <a:ext cx="8229600" cy="5400600"/>
              </a:xfrm>
              <a:blipFill rotWithShape="1">
                <a:blip r:embed="rId1"/>
                <a:stretch>
                  <a:fillRect t="-5" b="-14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3581986" y="301794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zh-CN" altLang="en-US" sz="2000" b="0" dirty="0">
                <a:solidFill>
                  <a:srgbClr val="262699"/>
                </a:solidFill>
                <a:latin typeface="Adobe 楷体 Std R" pitchFamily="18" charset="-122"/>
                <a:ea typeface="Adobe 楷体 Std R" pitchFamily="18" charset="-122"/>
                <a:cs typeface="+mj-cs"/>
              </a:rPr>
              <a:t>特征提取与选择</a:t>
            </a:r>
            <a:endParaRPr lang="zh-CN" altLang="en-US" sz="2000" b="0" dirty="0">
              <a:solidFill>
                <a:srgbClr val="262699"/>
              </a:solidFill>
              <a:latin typeface="Adobe 楷体 Std R" pitchFamily="18" charset="-122"/>
              <a:ea typeface="Adobe 楷体 Std R" pitchFamily="18" charset="-122"/>
              <a:cs typeface="+mj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08720"/>
                <a:ext cx="8229600" cy="547260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400" dirty="0">
                    <a:ea typeface="Adobe 楷体 Std R"/>
                  </a:rPr>
                  <a:t>所以有</a:t>
                </a:r>
                <a:endParaRPr lang="en-US" altLang="zh-CN" sz="2400" dirty="0">
                  <a:ea typeface="Adobe 楷体 Std R"/>
                </a:endParaRPr>
              </a:p>
              <a:p>
                <a:pPr marL="0" indent="0" algn="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 dirty="0">
                                <a:latin typeface="Cambria Math" panose="02040503050406030204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altLang="zh-CN" sz="2400" i="1" dirty="0">
                            <a:latin typeface="Cambria Math" panose="02040503050406030204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dirty="0" smtClean="0">
                            <a:latin typeface="Cambria Math" panose="02040503050406030204"/>
                          </a:rPr>
                          <m:t>𝜇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/>
                          </a:rPr>
                          <m:t>𝑖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 panose="02040503050406030204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b="0" i="1" dirty="0" smtClean="0">
                                <a:latin typeface="Cambria Math" panose="02040503050406030204"/>
                              </a:rPr>
                              <m:t>1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/>
                              </a:rPr>
                              <m:t>  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/>
                              </a:rPr>
                              <m:t>𝑗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/>
                              </a:rPr>
                              <m:t>=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/>
                              </a:rPr>
                              <m:t>𝑖</m:t>
                            </m:r>
                          </m:e>
                          <m:e>
                            <m:r>
                              <a:rPr lang="en-US" altLang="zh-CN" sz="2400" b="0" i="1" dirty="0" smtClean="0">
                                <a:latin typeface="Cambria Math" panose="02040503050406030204"/>
                              </a:rPr>
                              <m:t>0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/>
                              </a:rPr>
                              <m:t>  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/>
                              </a:rPr>
                              <m:t>𝑗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/>
                                <a:ea typeface="Cambria Math" panose="02040503050406030204"/>
                              </a:rPr>
                              <m:t>≠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/>
                                <a:ea typeface="Cambria Math" panose="02040503050406030204"/>
                              </a:rPr>
                              <m:t>𝑖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2400" dirty="0">
                    <a:ea typeface="Adobe 楷体 Std R"/>
                  </a:rPr>
                  <a:t>                           (6-45)</a:t>
                </a:r>
                <a:endParaRPr lang="en-US" altLang="zh-CN" sz="2400" dirty="0">
                  <a:ea typeface="Adobe 楷体 Std R"/>
                </a:endParaRPr>
              </a:p>
              <a:p>
                <a:pPr marL="0" indent="0">
                  <a:buNone/>
                </a:pPr>
                <a:r>
                  <a:rPr lang="zh-CN" altLang="zh-CN" sz="2400" dirty="0">
                    <a:ea typeface="Adobe 楷体 Std R"/>
                  </a:rPr>
                  <a:t>系数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/>
                          </a:rPr>
                          <m:t>𝑗</m:t>
                        </m:r>
                      </m:sub>
                    </m:sSub>
                    <m:r>
                      <a:rPr lang="en-US" altLang="zh-CN" sz="2400" i="1" dirty="0" smtClean="0">
                        <a:latin typeface="Cambria Math" panose="02040503050406030204"/>
                      </a:rPr>
                      <m:t> </m:t>
                    </m:r>
                  </m:oMath>
                </a14:m>
                <a:r>
                  <a:rPr lang="zh-CN" altLang="zh-CN" sz="2400" dirty="0">
                    <a:ea typeface="Adobe 楷体 Std R"/>
                  </a:rPr>
                  <a:t>可以利用正交坐标系的特性得到。如令某一基向量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dirty="0">
                            <a:latin typeface="Cambria Math" panose="02040503050406030204"/>
                          </a:rPr>
                          <m:t>𝜇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2400" dirty="0">
                    <a:ea typeface="Adobe 楷体 Std R"/>
                  </a:rPr>
                  <a:t>与向量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/>
                      </a:rPr>
                      <m:t>𝑋</m:t>
                    </m:r>
                  </m:oMath>
                </a14:m>
                <a:r>
                  <a:rPr lang="zh-CN" altLang="zh-CN" sz="2400" dirty="0">
                    <a:ea typeface="Adobe 楷体 Std R"/>
                  </a:rPr>
                  <a:t>作点积，则有</a:t>
                </a:r>
                <a:endParaRPr lang="zh-CN" altLang="zh-CN" sz="2400" dirty="0">
                  <a:ea typeface="Adobe 楷体 Std R"/>
                </a:endParaRPr>
              </a:p>
              <a:p>
                <a:pPr marL="0" indent="0" algn="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 dirty="0">
                                <a:latin typeface="Cambria Math" panose="02040503050406030204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altLang="zh-CN" sz="2400" i="1" dirty="0">
                            <a:latin typeface="Cambria Math" panose="02040503050406030204"/>
                          </a:rPr>
                          <m:t>𝑇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 panose="02040503050406030204"/>
                      </a:rPr>
                      <m:t>𝑋</m:t>
                    </m:r>
                    <m:r>
                      <a:rPr lang="en-US" altLang="zh-CN" sz="2400" b="0" i="1" dirty="0" smtClean="0">
                        <a:latin typeface="Cambria Math" panose="02040503050406030204"/>
                      </a:rPr>
                      <m:t>=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 dirty="0">
                                <a:latin typeface="Cambria Math" panose="02040503050406030204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altLang="zh-CN" sz="2400" i="1" dirty="0">
                            <a:latin typeface="Cambria Math" panose="02040503050406030204"/>
                          </a:rPr>
                          <m:t>𝑇</m:t>
                        </m:r>
                      </m:sup>
                    </m:sSup>
                    <m:nary>
                      <m:naryPr>
                        <m:chr m:val="∑"/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dirty="0" smtClean="0">
                            <a:latin typeface="Cambria Math" panose="02040503050406030204"/>
                          </a:rPr>
                          <m:t>𝑗</m:t>
                        </m:r>
                        <m:r>
                          <a:rPr lang="en-US" altLang="zh-CN" sz="2400" b="0" i="1" dirty="0" smtClean="0">
                            <a:latin typeface="Cambria Math" panose="02040503050406030204"/>
                          </a:rPr>
                          <m:t>=</m:t>
                        </m:r>
                        <m:r>
                          <a:rPr lang="en-US" altLang="zh-CN" sz="2400" b="0" i="1" dirty="0" smtClean="0">
                            <a:latin typeface="Cambria Math" panose="02040503050406030204"/>
                          </a:rPr>
                          <m:t>1</m:t>
                        </m:r>
                      </m:sub>
                      <m:sup>
                        <m:r>
                          <a:rPr lang="en-US" altLang="zh-CN" sz="2400" i="1" dirty="0" smtClean="0">
                            <a:latin typeface="Cambria Math" panose="02040503050406030204"/>
                            <a:ea typeface="Cambria Math" panose="02040503050406030204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latin typeface="Cambria Math" panose="02040503050406030204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latin typeface="Cambria Math" panose="02040503050406030204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 dirty="0">
                                <a:latin typeface="Cambria Math" panose="02040503050406030204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sz="2400" dirty="0">
                    <a:ea typeface="Adobe 楷体 Std R"/>
                  </a:rPr>
                  <a:t>                       (6-46)</a:t>
                </a:r>
                <a:endParaRPr lang="en-US" altLang="zh-CN" sz="2400" dirty="0">
                  <a:ea typeface="Adobe 楷体 Std R"/>
                </a:endParaRPr>
              </a:p>
              <a:p>
                <a:pPr marL="0" indent="0" algn="r">
                  <a:buNone/>
                </a:pP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/>
                        <a:ea typeface="Adobe 楷体 Std R"/>
                      </a:rPr>
                      <m:t>𝜀</m:t>
                    </m:r>
                    <m:r>
                      <a:rPr lang="en-US" altLang="zh-CN" sz="2400" i="1" smtClean="0">
                        <a:latin typeface="Cambria Math" panose="02040503050406030204"/>
                        <a:ea typeface="Cambria Math" panose="02040503050406030204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/>
                        <a:ea typeface="Cambria Math" panose="02040503050406030204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sz="2400" b="0" i="1" smtClean="0">
                                <a:latin typeface="Cambria Math" panose="02040503050406030204"/>
                                <a:ea typeface="Cambria Math" panose="02040503050406030204"/>
                              </a:rPr>
                              <m:t>𝑗</m:t>
                            </m:r>
                            <m:r>
                              <a:rPr lang="en-US" altLang="zh-CN" sz="2400" b="0" i="1" smtClean="0">
                                <a:latin typeface="Cambria Math" panose="02040503050406030204"/>
                                <a:ea typeface="Cambria Math" panose="02040503050406030204"/>
                              </a:rPr>
                              <m:t>=</m:t>
                            </m:r>
                            <m:r>
                              <a:rPr lang="en-US" altLang="zh-CN" sz="2400" b="0" i="1" smtClean="0">
                                <a:latin typeface="Cambria Math" panose="02040503050406030204"/>
                                <a:ea typeface="Cambria Math" panose="02040503050406030204"/>
                              </a:rPr>
                              <m:t>𝑑</m:t>
                            </m:r>
                            <m:r>
                              <a:rPr lang="en-US" altLang="zh-CN" sz="2400" b="0" i="1" smtClean="0">
                                <a:latin typeface="Cambria Math" panose="02040503050406030204"/>
                                <a:ea typeface="Cambria Math" panose="02040503050406030204"/>
                              </a:rPr>
                              <m:t>+</m:t>
                            </m:r>
                            <m:r>
                              <a:rPr lang="en-US" altLang="zh-CN" sz="2400" b="0" i="1" smtClean="0">
                                <a:latin typeface="Cambria Math" panose="02040503050406030204"/>
                                <a:ea typeface="Cambria Math" panose="02040503050406030204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latin typeface="Cambria Math" panose="02040503050406030204"/>
                                <a:ea typeface="Cambria Math" panose="02040503050406030204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i="1" dirty="0">
                                        <a:latin typeface="Cambria Math" panose="02040503050406030204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2400" i="1" dirty="0">
                                        <a:latin typeface="Cambria Math" panose="02040503050406030204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zh-CN" sz="2400" i="1" dirty="0">
                                    <a:latin typeface="Cambria Math" panose="02040503050406030204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2400" b="0" i="1" dirty="0" smtClean="0">
                                <a:latin typeface="Cambria Math" panose="02040503050406030204"/>
                              </a:rPr>
                              <m:t>𝑋</m:t>
                            </m:r>
                            <m:sSup>
                              <m:sSupPr>
                                <m:ctrlP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altLang="zh-CN" sz="2400" b="0" i="1" dirty="0" smtClean="0">
                                    <a:latin typeface="Cambria Math" panose="02040503050406030204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 dirty="0">
                                    <a:latin typeface="Cambria Math" panose="02040503050406030204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altLang="zh-CN" sz="2400" b="0" i="1" smtClean="0">
                        <a:latin typeface="Cambria Math" panose="02040503050406030204"/>
                        <a:ea typeface="Cambria Math" panose="02040503050406030204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𝑗</m:t>
                        </m:r>
                        <m: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=</m:t>
                        </m:r>
                        <m: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𝑑</m:t>
                        </m:r>
                        <m: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 dirty="0">
                                    <a:latin typeface="Cambria Math" panose="02040503050406030204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/>
                                  </a:rPr>
                                  <m:t>𝑗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400" i="1" dirty="0">
                                <a:latin typeface="Cambria Math" panose="02040503050406030204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sz="2400" b="0" i="1" dirty="0" smtClean="0">
                            <a:latin typeface="Cambria Math" panose="02040503050406030204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dirty="0">
                                <a:latin typeface="Cambria Math" panose="02040503050406030204"/>
                              </a:rPr>
                              <m:t>𝑋</m:t>
                            </m:r>
                            <m:sSup>
                              <m:sSup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 dirty="0">
                                    <a:latin typeface="Cambria Math" panose="02040503050406030204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altLang="zh-CN" sz="2400" i="1" dirty="0">
                                    <a:latin typeface="Cambria Math" panose="02040503050406030204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 dirty="0">
                                <a:latin typeface="Cambria Math" panose="02040503050406030204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sz="2400" dirty="0">
                    <a:ea typeface="Adobe 楷体 Std R"/>
                  </a:rPr>
                  <a:t> (6-47)</a:t>
                </a:r>
                <a:endParaRPr lang="en-US" altLang="zh-CN" sz="2400" dirty="0">
                  <a:latin typeface="Adobe 楷体 Std R"/>
                  <a:ea typeface="Adobe 楷体 Std R"/>
                </a:endParaRPr>
              </a:p>
              <a:p>
                <a:pPr marL="0" indent="0" algn="just">
                  <a:buNone/>
                </a:pPr>
                <a:r>
                  <a:rPr lang="zh-CN" altLang="en-US" sz="2400" dirty="0">
                    <a:ea typeface="Adobe 楷体 Std R"/>
                  </a:rPr>
                  <a:t>如令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/>
                        <a:ea typeface="Adobe 楷体 Std R"/>
                      </a:rPr>
                      <m:t>𝜓</m:t>
                    </m:r>
                    <m:r>
                      <a:rPr lang="en-US" altLang="zh-CN" sz="2400" i="1">
                        <a:latin typeface="Cambria Math" panose="02040503050406030204"/>
                        <a:ea typeface="Adobe 楷体 Std R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/>
                          </a:rPr>
                          <m:t>𝑋</m:t>
                        </m:r>
                        <m:sSup>
                          <m:sSup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dirty="0">
                                <a:latin typeface="Cambria Math" panose="02040503050406030204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2400" i="1" dirty="0">
                                <a:latin typeface="Cambria Math" panose="02040503050406030204"/>
                              </a:rPr>
                              <m:t>𝑇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400" dirty="0">
                    <a:ea typeface="Adobe 楷体 Std R"/>
                  </a:rPr>
                  <a:t>，则有</a:t>
                </a:r>
                <a:endParaRPr lang="en-US" altLang="zh-CN" sz="2400" dirty="0">
                  <a:ea typeface="Adobe 楷体 Std R"/>
                </a:endParaRPr>
              </a:p>
              <a:p>
                <a:pPr marL="0" indent="0" algn="r">
                  <a:buNone/>
                </a:pP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/>
                        <a:ea typeface="Adobe 楷体 Std R"/>
                      </a:rPr>
                      <m:t>𝜀</m:t>
                    </m:r>
                    <m:r>
                      <a:rPr lang="en-US" altLang="zh-CN" sz="2400" i="1">
                        <a:latin typeface="Cambria Math" panose="02040503050406030204"/>
                        <a:ea typeface="Cambria Math" panose="02040503050406030204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𝑗</m:t>
                        </m:r>
                        <m: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=</m:t>
                        </m:r>
                        <m: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𝑑</m:t>
                        </m:r>
                        <m: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 dirty="0">
                                    <a:latin typeface="Cambria Math" panose="02040503050406030204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/>
                                  </a:rPr>
                                  <m:t>𝑗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400" i="1" dirty="0">
                                <a:latin typeface="Cambria Math" panose="02040503050406030204"/>
                              </a:rPr>
                              <m:t>𝑇</m:t>
                            </m:r>
                          </m:sup>
                        </m:sSup>
                        <m:r>
                          <a:rPr lang="zh-CN" altLang="en-US" sz="2400" i="1">
                            <a:latin typeface="Cambria Math" panose="02040503050406030204"/>
                            <a:ea typeface="Adobe 楷体 Std R"/>
                          </a:rPr>
                          <m:t>𝜓</m:t>
                        </m:r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 dirty="0">
                                <a:latin typeface="Cambria Math" panose="02040503050406030204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sz="2400" dirty="0">
                    <a:ea typeface="Adobe 楷体 Std R"/>
                  </a:rPr>
                  <a:t>                       (6-48)</a:t>
                </a:r>
                <a:endParaRPr lang="en-US" altLang="zh-CN" sz="2400" dirty="0">
                  <a:ea typeface="Adobe 楷体 Std R"/>
                </a:endParaRPr>
              </a:p>
              <a:p>
                <a:pPr marL="0" indent="0" algn="just" hangingPunct="1">
                  <a:buNone/>
                </a:pPr>
                <a:r>
                  <a:rPr lang="zh-CN" altLang="zh-CN" sz="2400" dirty="0"/>
                  <a:t>欲使该均方误差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/>
                        <a:ea typeface="Adobe 楷体 Std R"/>
                      </a:rPr>
                      <m:t>𝜀</m:t>
                    </m:r>
                  </m:oMath>
                </a14:m>
                <a:r>
                  <a:rPr lang="zh-CN" altLang="zh-CN" sz="2400" dirty="0"/>
                  <a:t>为最小，就变成在正交变换的条件下，使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/>
                        <a:ea typeface="Adobe 楷体 Std R"/>
                      </a:rPr>
                      <m:t>𝜀</m:t>
                    </m:r>
                  </m:oMath>
                </a14:m>
                <a:r>
                  <a:rPr lang="zh-CN" altLang="zh-CN" sz="2400" dirty="0"/>
                  <a:t>达最小的问题，引入拉格朗日乘子法，有</a:t>
                </a:r>
                <a:endParaRPr lang="en-US" altLang="zh-CN" sz="2400" dirty="0"/>
              </a:p>
              <a:p>
                <a:pPr marL="0" indent="0" algn="r" hangingPunct="1">
                  <a:buNone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/>
                        <a:ea typeface="Adobe 楷体 Std R"/>
                      </a:rPr>
                      <m:t>𝑔</m:t>
                    </m:r>
                    <m:r>
                      <a:rPr lang="en-US" altLang="zh-CN" sz="2400" b="0" i="1" smtClean="0">
                        <a:latin typeface="Cambria Math" panose="02040503050406030204"/>
                        <a:ea typeface="Adobe 楷体 Std R"/>
                      </a:rPr>
                      <m:t>(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dirty="0">
                            <a:latin typeface="Cambria Math" panose="02040503050406030204"/>
                          </a:rPr>
                          <m:t>𝜇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400" dirty="0">
                    <a:ea typeface="Adobe 楷体 Std R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/>
                        <a:ea typeface="Cambria Math" panose="02040503050406030204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𝑗</m:t>
                        </m:r>
                        <m: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=</m:t>
                        </m:r>
                        <m: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𝑑</m:t>
                        </m:r>
                        <m: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 dirty="0">
                                    <a:latin typeface="Cambria Math" panose="02040503050406030204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/>
                                  </a:rPr>
                                  <m:t>𝑗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400" i="1" dirty="0">
                                <a:latin typeface="Cambria Math" panose="02040503050406030204"/>
                              </a:rPr>
                              <m:t>𝑇</m:t>
                            </m:r>
                          </m:sup>
                        </m:sSup>
                        <m:r>
                          <a:rPr lang="zh-CN" altLang="en-US" sz="2400" i="1">
                            <a:latin typeface="Cambria Math" panose="02040503050406030204"/>
                            <a:ea typeface="Adobe 楷体 Std R"/>
                          </a:rPr>
                          <m:t>𝜓</m:t>
                        </m:r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 dirty="0">
                                <a:latin typeface="Cambria Math" panose="02040503050406030204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altLang="zh-CN" sz="2400" b="0" i="1" dirty="0" smtClean="0">
                        <a:latin typeface="Cambria Math" panose="02040503050406030204"/>
                      </a:rPr>
                      <m:t>−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𝑗</m:t>
                        </m:r>
                        <m: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=</m:t>
                        </m:r>
                        <m: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𝑑</m:t>
                        </m:r>
                        <m: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i="1" dirty="0">
                                        <a:latin typeface="Cambria Math" panose="02040503050406030204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2400" i="1" dirty="0">
                                        <a:latin typeface="Cambria Math" panose="02040503050406030204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zh-CN" sz="2400" i="1" dirty="0">
                                    <a:latin typeface="Cambria Math" panose="02040503050406030204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 dirty="0">
                                    <a:latin typeface="Cambria Math" panose="02040503050406030204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2400" b="0" i="1" dirty="0" smtClean="0">
                                <a:latin typeface="Cambria Math" panose="02040503050406030204"/>
                              </a:rPr>
                              <m:t>−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/>
                              </a:rPr>
                              <m:t>1</m:t>
                            </m:r>
                          </m:e>
                        </m:d>
                      </m:e>
                    </m:nary>
                  </m:oMath>
                </a14:m>
                <a:r>
                  <a:rPr lang="en-US" altLang="zh-CN" sz="2400" dirty="0">
                    <a:ea typeface="Adobe 楷体 Std R"/>
                  </a:rPr>
                  <a:t> (6-49)</a:t>
                </a:r>
                <a:endParaRPr lang="en-US" altLang="zh-CN" sz="2400" dirty="0">
                  <a:ea typeface="Adobe 楷体 Std R"/>
                </a:endParaRPr>
              </a:p>
              <a:p>
                <a:pPr marL="0" indent="0" algn="r">
                  <a:buNone/>
                </a:pPr>
                <a:endParaRPr lang="zh-CN" altLang="en-US" sz="2400" dirty="0">
                  <a:ea typeface="Adobe 楷体 Std R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08720"/>
                <a:ext cx="8229600" cy="5472608"/>
              </a:xfrm>
              <a:blipFill rotWithShape="1">
                <a:blip r:embed="rId1"/>
                <a:stretch>
                  <a:fillRect t="-1" b="-145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3581986" y="301794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zh-CN" altLang="en-US" sz="2000" b="0" dirty="0">
                <a:solidFill>
                  <a:srgbClr val="262699"/>
                </a:solidFill>
                <a:latin typeface="Adobe 楷体 Std R" pitchFamily="18" charset="-122"/>
                <a:ea typeface="Adobe 楷体 Std R" pitchFamily="18" charset="-122"/>
                <a:cs typeface="+mj-cs"/>
              </a:rPr>
              <a:t>特征提取与选择</a:t>
            </a:r>
            <a:endParaRPr lang="zh-CN" altLang="en-US" sz="2000" b="0" dirty="0">
              <a:solidFill>
                <a:srgbClr val="262699"/>
              </a:solidFill>
              <a:latin typeface="Adobe 楷体 Std R" pitchFamily="18" charset="-122"/>
              <a:ea typeface="Adobe 楷体 Std R" pitchFamily="18" charset="-122"/>
              <a:cs typeface="+mj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80728"/>
                <a:ext cx="8229600" cy="514543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zh-CN" sz="2400" dirty="0">
                    <a:latin typeface="Adobe 楷体 Std R"/>
                  </a:rPr>
                  <a:t>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dirty="0">
                            <a:latin typeface="Cambria Math" panose="02040503050406030204"/>
                          </a:rPr>
                          <m:t>𝜇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2400" dirty="0">
                    <a:latin typeface="Adobe 楷体 Std R"/>
                  </a:rPr>
                  <a:t>求导数并令导数为零，得</a:t>
                </a:r>
                <a:endParaRPr lang="en-US" altLang="zh-CN" sz="2400" dirty="0">
                  <a:latin typeface="Adobe 楷体 Std R"/>
                </a:endParaRPr>
              </a:p>
              <a:p>
                <a:pPr marL="0" indent="0" algn="r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Adobe 楷体 Std R"/>
                          </a:rPr>
                          <m:t>𝜓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  <a:ea typeface="Adobe 楷体 Std R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2400" dirty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dirty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2400" dirty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/>
                      </a:rPr>
                      <m:t>∞</m:t>
                    </m:r>
                  </m:oMath>
                </a14:m>
                <a:r>
                  <a:rPr lang="en-US" altLang="zh-CN" sz="2400" dirty="0">
                    <a:latin typeface="Adobe 楷体 Std R"/>
                  </a:rPr>
                  <a:t>    (6-50)</a:t>
                </a:r>
                <a:endParaRPr lang="en-US" altLang="zh-CN" sz="2400" dirty="0">
                  <a:latin typeface="Adobe 楷体 Std R"/>
                </a:endParaRPr>
              </a:p>
              <a:p>
                <a:pPr marL="0" indent="0" algn="just">
                  <a:buNone/>
                </a:pPr>
                <a:endParaRPr lang="en-US" altLang="zh-CN" sz="2400" dirty="0">
                  <a:latin typeface="Adobe 楷体 Std R"/>
                </a:endParaRPr>
              </a:p>
              <a:p>
                <a:pPr marL="0" indent="0" algn="just">
                  <a:buNone/>
                </a:pPr>
                <a:r>
                  <a:rPr lang="zh-CN" altLang="en-US" sz="2400" dirty="0">
                    <a:latin typeface="Adobe 楷体 Std R"/>
                  </a:rPr>
                  <a:t>可见向量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dirty="0">
                            <a:latin typeface="Cambria Math" panose="02040503050406030204"/>
                          </a:rPr>
                          <m:t>𝜇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Adobe 楷体 Std R"/>
                  </a:rPr>
                  <a:t>应是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/>
                        <a:ea typeface="Adobe 楷体 Std R"/>
                      </a:rPr>
                      <m:t>𝜓</m:t>
                    </m:r>
                  </m:oMath>
                </a14:m>
                <a:r>
                  <a:rPr lang="zh-CN" altLang="en-US" sz="2400" dirty="0">
                    <a:latin typeface="Adobe 楷体 Std R"/>
                  </a:rPr>
                  <a:t>矩阵的特征值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/>
                          </a:rPr>
                          <m:t>𝜆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Adobe 楷体 Std R"/>
                  </a:rPr>
                  <a:t>的特征向量，而此时截断误差为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/>
                        <a:ea typeface="Adobe 楷体 Std R"/>
                      </a:rPr>
                      <m:t>𝜀</m:t>
                    </m:r>
                    <m:r>
                      <a:rPr lang="en-US" altLang="zh-CN" sz="2400" i="1">
                        <a:latin typeface="Cambria Math" panose="02040503050406030204"/>
                        <a:ea typeface="Cambria Math" panose="02040503050406030204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𝑗</m:t>
                        </m:r>
                        <m: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=</m:t>
                        </m:r>
                        <m: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𝑑</m:t>
                        </m:r>
                        <m: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2400" i="1" dirty="0">
                        <a:latin typeface="Cambria Math" panose="02040503050406030204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Adobe 楷体 Std R"/>
                  </a:rPr>
                  <a:t>。如将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/>
                          </a:rPr>
                          <m:t>𝜆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Adobe 楷体 Std R"/>
                  </a:rPr>
                  <a:t>按其大小顺序排列，即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/>
                          </a:rPr>
                          <m:t>𝜆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  <m:r>
                      <a:rPr lang="en-US" altLang="zh-CN" sz="2400" i="1" smtClean="0">
                        <a:latin typeface="Cambria Math" panose="02040503050406030204"/>
                        <a:ea typeface="Cambria Math" panose="02040503050406030204"/>
                      </a:rPr>
                      <m:t>≥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/>
                          </a:rPr>
                          <m:t>𝜆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/>
                        <a:ea typeface="Cambria Math" panose="02040503050406030204"/>
                      </a:rPr>
                      <m:t>≥</m:t>
                    </m:r>
                    <m:r>
                      <a:rPr lang="en-US" altLang="zh-CN" sz="2400" b="0" i="1" smtClean="0">
                        <a:latin typeface="Cambria Math" panose="02040503050406030204"/>
                        <a:ea typeface="Cambria Math" panose="02040503050406030204"/>
                      </a:rPr>
                      <m:t>…≥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/>
                          </a:rPr>
                          <m:t>𝜆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/>
                          </a:rPr>
                          <m:t>𝑑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/>
                        <a:ea typeface="Cambria Math" panose="02040503050406030204"/>
                      </a:rPr>
                      <m:t>≥</m:t>
                    </m:r>
                    <m:r>
                      <a:rPr lang="en-US" altLang="zh-CN" sz="2400" b="0" i="1" smtClean="0">
                        <a:latin typeface="Cambria Math" panose="02040503050406030204"/>
                        <a:ea typeface="Cambria Math" panose="02040503050406030204"/>
                      </a:rPr>
                      <m:t>…</m:t>
                    </m:r>
                  </m:oMath>
                </a14:m>
                <a:r>
                  <a:rPr lang="zh-CN" altLang="en-US" sz="2400" dirty="0">
                    <a:latin typeface="Adobe 楷体 Std R"/>
                  </a:rPr>
                  <a:t>则取前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/>
                      </a:rPr>
                      <m:t>𝑑</m:t>
                    </m:r>
                  </m:oMath>
                </a14:m>
                <a:r>
                  <a:rPr lang="zh-CN" altLang="en-US" sz="2400" dirty="0">
                    <a:latin typeface="Adobe 楷体 Std R"/>
                  </a:rPr>
                  <a:t>项特征值对应的特征向量组成变换矩阵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/>
                      </a:rPr>
                      <m:t>𝑈</m:t>
                    </m:r>
                  </m:oMath>
                </a14:m>
                <a:r>
                  <a:rPr lang="zh-CN" altLang="en-US" sz="2400" dirty="0">
                    <a:latin typeface="Adobe 楷体 Std R"/>
                  </a:rPr>
                  <a:t>，实施变换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/>
                      </a:rPr>
                      <m:t>𝑈𝑋</m:t>
                    </m:r>
                  </m:oMath>
                </a14:m>
                <a:r>
                  <a:rPr lang="zh-CN" altLang="en-US" sz="2400" dirty="0">
                    <a:latin typeface="Adobe 楷体 Std R"/>
                  </a:rPr>
                  <a:t>即得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/>
                      </a:rPr>
                      <m:t>𝑋</m:t>
                    </m:r>
                  </m:oMath>
                </a14:m>
                <a:r>
                  <a:rPr lang="zh-CN" altLang="en-US" sz="2400" dirty="0">
                    <a:latin typeface="Adobe 楷体 Std R"/>
                  </a:rPr>
                  <a:t>的特征向量，用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/>
                      </a:rPr>
                      <m:t>𝑈</m:t>
                    </m:r>
                  </m:oMath>
                </a14:m>
                <a:r>
                  <a:rPr lang="zh-CN" altLang="en-US" sz="2400" dirty="0">
                    <a:latin typeface="Adobe 楷体 Std R"/>
                  </a:rPr>
                  <a:t>和特征向量重构样本向量，可使向量的均方误差为最小，满足上述条件的变换就是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/>
                      </a:rPr>
                      <m:t>𝐾</m:t>
                    </m:r>
                    <m:r>
                      <a:rPr lang="en-US" altLang="zh-CN" sz="2400" i="1" dirty="0" smtClean="0">
                        <a:latin typeface="Cambria Math" panose="02040503050406030204"/>
                      </a:rPr>
                      <m:t>−</m:t>
                    </m:r>
                    <m:r>
                      <a:rPr lang="en-US" altLang="zh-CN" sz="2400" i="1" dirty="0" smtClean="0">
                        <a:latin typeface="Cambria Math" panose="02040503050406030204"/>
                      </a:rPr>
                      <m:t>𝐿</m:t>
                    </m:r>
                  </m:oMath>
                </a14:m>
                <a:r>
                  <a:rPr lang="zh-CN" altLang="en-US" sz="2400" dirty="0">
                    <a:latin typeface="Adobe 楷体 Std R"/>
                  </a:rPr>
                  <a:t>变换。</a:t>
                </a:r>
                <a:endParaRPr lang="zh-CN" altLang="en-US" sz="2400" dirty="0">
                  <a:latin typeface="Adobe 楷体 Std R"/>
                </a:endParaRPr>
              </a:p>
              <a:p>
                <a:pPr marL="0" indent="0" algn="just">
                  <a:buNone/>
                </a:pPr>
                <a:endParaRPr lang="zh-CN" altLang="en-US" sz="2400" dirty="0">
                  <a:latin typeface="Adobe 楷体 Std R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80728"/>
                <a:ext cx="8229600" cy="5145435"/>
              </a:xfrm>
              <a:blipFill rotWithShape="1">
                <a:blip r:embed="rId1"/>
                <a:stretch>
                  <a:fillRect t="-6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3581986" y="301794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zh-CN" altLang="en-US" sz="2000" b="0" dirty="0">
                <a:solidFill>
                  <a:srgbClr val="262699"/>
                </a:solidFill>
                <a:latin typeface="Adobe 楷体 Std R" pitchFamily="18" charset="-122"/>
                <a:ea typeface="Adobe 楷体 Std R" pitchFamily="18" charset="-122"/>
                <a:cs typeface="+mj-cs"/>
              </a:rPr>
              <a:t>特征提取与选择</a:t>
            </a:r>
            <a:endParaRPr lang="zh-CN" altLang="en-US" sz="2000" b="0" dirty="0">
              <a:solidFill>
                <a:srgbClr val="262699"/>
              </a:solidFill>
              <a:latin typeface="Adobe 楷体 Std R" pitchFamily="18" charset="-122"/>
              <a:ea typeface="Adobe 楷体 Std R" pitchFamily="18" charset="-122"/>
              <a:cs typeface="+mj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2266</Words>
  <Application>WPS 演示</Application>
  <PresentationFormat>全屏显示(4:3)</PresentationFormat>
  <Paragraphs>56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Arial</vt:lpstr>
      <vt:lpstr>宋体</vt:lpstr>
      <vt:lpstr>Wingdings</vt:lpstr>
      <vt:lpstr>Times New Roman</vt:lpstr>
      <vt:lpstr>DFKai-SB</vt:lpstr>
      <vt:lpstr>MingLiU-ExtB</vt:lpstr>
      <vt:lpstr>黑体</vt:lpstr>
      <vt:lpstr>Adobe 楷体 Std R</vt:lpstr>
      <vt:lpstr>Adobe 楷体 Std R</vt:lpstr>
      <vt:lpstr>Cambria Math</vt:lpstr>
      <vt:lpstr>Cambria Math</vt:lpstr>
      <vt:lpstr>楷体</vt:lpstr>
      <vt:lpstr>微软雅黑</vt:lpstr>
      <vt:lpstr>Arial Unicode MS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sgmw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面向消费电子产品的客户需求信息处理相关理论和方法研究</dc:title>
  <dc:creator>萧筝</dc:creator>
  <cp:lastModifiedBy>贲晛烨</cp:lastModifiedBy>
  <cp:revision>6465</cp:revision>
  <dcterms:created xsi:type="dcterms:W3CDTF">2006-02-15T02:42:00Z</dcterms:created>
  <dcterms:modified xsi:type="dcterms:W3CDTF">2025-10-22T09:43:26Z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72403FC758C24103A2AB8D9EC9EE25BC_12</vt:lpwstr>
  </property>
  <property fmtid="{D5CDD505-2E9C-101B-9397-08002B2CF9AE}" pid="3" name="KSOProductBuildVer">
    <vt:lpwstr>2052-12.1.0.18912</vt:lpwstr>
  </property>
</Properties>
</file>